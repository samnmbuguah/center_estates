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1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800600" cy="6858000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enter-estate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0352"/>
            <a:ext cx="617253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1328" y="612648"/>
            <a:ext cx="2560320" cy="36576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CeEst ERP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338328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FF9CA0"/>
                </a:solidFill>
                <a:latin typeface="Aptos"/>
              </a:rPr>
              <a:t>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67712"/>
            <a:ext cx="3794760" cy="11430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One operating record.</a:t>
            </a:r>
            <a:br/>
            <a:r>
              <a:t>Complete estate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3611880" cy="9144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0">
                <a:solidFill>
                  <a:srgbClr val="DDE7F2"/>
                </a:solidFill>
                <a:latin typeface="Aptos"/>
              </a:rPr>
              <a:t>Property management, facilities operations and staff performance—connected from transaction to 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919472"/>
            <a:ext cx="3520440" cy="548640"/>
          </a:xfrm>
          <a:prstGeom prst="round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65776"/>
            <a:ext cx="3200400" cy="2194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RECORD → ACT → VERIFY →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72200"/>
            <a:ext cx="34747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B9C9DC"/>
                </a:solidFill>
                <a:latin typeface="Aptos"/>
              </a:rPr>
              <a:t>Live demonstration •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DEMO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From property record to management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A focused 25–30 minute journey—not a tour of every menu.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4231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423160"/>
            <a:ext cx="73152" cy="118872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9464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01 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90088"/>
            <a:ext cx="3017520" cy="4937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Property, tenant, asset and service masters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4231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423160"/>
            <a:ext cx="73152" cy="118872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69464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02 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90088"/>
            <a:ext cx="3017520" cy="4937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Billing schedules, PPM and compliance calendars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4231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80" y="2423160"/>
            <a:ext cx="73152" cy="1188720"/>
          </a:xfrm>
          <a:prstGeom prst="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569464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03  EXECUTE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90088"/>
            <a:ext cx="3017520" cy="4937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Tasks, tickets, work orders and collections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93192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931920"/>
            <a:ext cx="73152" cy="118872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78224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04 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498848"/>
            <a:ext cx="3017520" cy="4937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Approvals, evidence, SLA and audit trail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393192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931920"/>
            <a:ext cx="73152" cy="1188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4078224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05  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498848"/>
            <a:ext cx="3017520" cy="4937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KPIs, trends, ageing and performance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93192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83880" y="3931920"/>
            <a:ext cx="73152" cy="118872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078224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06  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498848"/>
            <a:ext cx="3017520" cy="4937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Tenant, manager and landlord outputs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Every dashboard number is traceable to an underlying transaction and responsible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COMMAND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Start with today’s operating priorities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Companion gives each manager one place to see what needs attention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31720"/>
            <a:ext cx="73152" cy="141732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78024"/>
            <a:ext cx="187451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Due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98648"/>
            <a:ext cx="2194560" cy="722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Planned maintenance, inspections, lease events and assigned tasks.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33172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331720"/>
            <a:ext cx="73152" cy="1417320"/>
          </a:xfrm>
          <a:prstGeom prst="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30168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EA8614"/>
                </a:solidFill>
                <a:latin typeface="Aptos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478024"/>
            <a:ext cx="187451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Needs attention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898648"/>
            <a:ext cx="2194560" cy="722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Overdue actions, SLA risks, expiring compliance and approvals.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331720"/>
            <a:ext cx="26517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331720"/>
            <a:ext cx="73152" cy="141732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7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00918A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478024"/>
            <a:ext cx="187451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Team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898648"/>
            <a:ext cx="2194560" cy="722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Assignments, progress, evidence and staff performance.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233172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280" y="2331720"/>
            <a:ext cx="73152" cy="141732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9448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2365B"/>
                </a:solidFill>
                <a:latin typeface="Aptos"/>
              </a:rPr>
              <a:t>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478024"/>
            <a:ext cx="173735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Quartermaster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898648"/>
            <a:ext cx="2057400" cy="722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Contextual assistance, summaries and operational guidance.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160520"/>
            <a:ext cx="10789920" cy="15087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Open with the manager’s current property already selected.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Use one alert as the bridge into the live workflow.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Return here at the end to show the action is now reflected.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The ERP behaves as an operating command centre, not a passive database.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PROPERTY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A complete, property-scoped operating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Property → buildings/areas → units → tenants → services → assets.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3172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31720"/>
            <a:ext cx="73152" cy="246888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2365B"/>
                </a:solidFill>
                <a:latin typeface="Aptos"/>
              </a:rPr>
              <a:t>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78024"/>
            <a:ext cx="2651760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Property &amp; buildings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98648"/>
            <a:ext cx="2971800" cy="17739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Identity, address, ownership, building hierarchy, lettable area, utilities, documents and contacts.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33172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87952" y="2331720"/>
            <a:ext cx="73152" cy="246888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478024"/>
            <a:ext cx="265175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Units &amp; billing schedule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898648"/>
            <a:ext cx="2971800" cy="17739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Unit use, floor, area, parking, recurring charges, deposits and utility applicability.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81544" y="233172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81544" y="2331720"/>
            <a:ext cx="73152" cy="246888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2712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00918A"/>
                </a:solidFill>
                <a:latin typeface="Aptos"/>
              </a:rPr>
              <a:t>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2478024"/>
            <a:ext cx="265175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Tenant &amp; 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2898648"/>
            <a:ext cx="2971800" cy="17739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Application, contacts, assigned unit, commencement, expiry, escalation and approvals.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48072"/>
            <a:ext cx="10698480" cy="5029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0A213D"/>
                </a:solidFill>
                <a:latin typeface="Aptos"/>
              </a:rPr>
              <a:t>All module tabs inherit the selected property—no portfolio totals inside a property workspace.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One trusted structure eliminates duplicate setup and enables automatic downstream billing and reporting.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PROPERTY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Tenancy and billing are configured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The unit defines what can be billed; the lease defines when rent becomes due.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04288"/>
            <a:ext cx="34747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04288"/>
            <a:ext cx="73152" cy="256032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50592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1  Configure the 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71216"/>
            <a:ext cx="3017520" cy="1865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Rent basis, service charge, utilities, parking and deposits belong to the unit billing schedule.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304288"/>
            <a:ext cx="34747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304288"/>
            <a:ext cx="73152" cy="256032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2450592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2  Create the tenancy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871216"/>
            <a:ext cx="3017520" cy="1865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Select the unit, capture lease dates and escalation, then inherit applicable charges automatically.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2304288"/>
            <a:ext cx="34747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2304288"/>
            <a:ext cx="73152" cy="256032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2450592"/>
            <a:ext cx="3063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3  Generate invoices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871216"/>
            <a:ext cx="3017520" cy="186537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The engine checks readiness and produces separate rent and utility invoices—payable together.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698480" cy="4114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22034"/>
                </a:solidFill>
                <a:latin typeface="Aptos"/>
              </a:rPr>
              <a:t>Demo action: open one active tenant and explain the source of each charge before opening invoicing.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Billing is driven by tenancy and unit data—not rebuilt manually at month-end.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COLLECTIONS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From invoice to receipt, allocation and arrears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A clear financial trail for manager, landlord and tenant.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60320"/>
            <a:ext cx="1572768" cy="685800"/>
          </a:xfrm>
          <a:prstGeom prst="round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761488"/>
            <a:ext cx="142646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INVOICE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3704" y="2743200"/>
            <a:ext cx="23774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79" y="2560320"/>
            <a:ext cx="1572768" cy="685800"/>
          </a:xfrm>
          <a:prstGeom prst="round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2761488"/>
            <a:ext cx="142646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743200"/>
            <a:ext cx="23774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560320"/>
            <a:ext cx="1572768" cy="68580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2761488"/>
            <a:ext cx="142646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RECEIPT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2743200"/>
            <a:ext cx="23774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560320"/>
            <a:ext cx="1572768" cy="685800"/>
          </a:xfrm>
          <a:prstGeom prst="round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2761488"/>
            <a:ext cx="142646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ALLOCATION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27264" y="2743200"/>
            <a:ext cx="23774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560320"/>
            <a:ext cx="1572768" cy="685800"/>
          </a:xfrm>
          <a:prstGeom prst="round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5592" y="2761488"/>
            <a:ext cx="142646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ARREARS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2743200"/>
            <a:ext cx="23774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2560320"/>
            <a:ext cx="1572768" cy="685800"/>
          </a:xfrm>
          <a:prstGeom prst="round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0112" y="2761488"/>
            <a:ext cx="1426464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886200"/>
            <a:ext cx="10607040" cy="1572768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Show billed, collected and outstanding for the selected property and period.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Open the tenant statement or receipt to prove document quality and traceability.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Explain reminders and recovery actions without overstating unconfigured payment integrations.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The manager can explain every balance and the tenant can access the same supporting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SERVICE CHARGE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Plan, allocate, reconcile and explain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Connect operational requirements to the annual service charge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73152" cy="224028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2365B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828800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Schemes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98648"/>
            <a:ext cx="2148840" cy="15453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Define period, allocation basis and applicable units.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1568" y="233172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01568" y="2331720"/>
            <a:ext cx="73152" cy="224028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5928" y="2478024"/>
            <a:ext cx="1828800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Budget 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898648"/>
            <a:ext cx="2148840" cy="15453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Security, cleaning, utilities, repairs and management costs.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6" y="233172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3056" y="2331720"/>
            <a:ext cx="73152" cy="224028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00918A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2478024"/>
            <a:ext cx="182879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Allocation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98648"/>
            <a:ext cx="2148840" cy="15453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Apportion by area, equal share or configured driver.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2331720"/>
            <a:ext cx="26060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4544" y="2331720"/>
            <a:ext cx="73152" cy="2240280"/>
          </a:xfrm>
          <a:prstGeom prst="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5712" y="249631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EA8614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8904" y="2478024"/>
            <a:ext cx="182879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Reconciliation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898648"/>
            <a:ext cx="2148840" cy="15453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Compare budget with actual expenditure and explain variance.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956048"/>
            <a:ext cx="10607040" cy="5029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22034"/>
                </a:solidFill>
                <a:latin typeface="Aptos"/>
              </a:rPr>
              <a:t>Use historical averages or projected quantities and rates—then preserve the approval and audit trail.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Service charge planning is linked to real operational requirements and actual expenditure.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TENANT SELF-SERVICE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A tenant can act—not only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Invoices, receipts, lease information, notices and maintenance requests in one secure portal.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86000"/>
            <a:ext cx="347472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286000"/>
            <a:ext cx="73152" cy="251460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2365B"/>
                </a:solidFill>
                <a:latin typeface="Aptos"/>
              </a:rPr>
              <a:t>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32304"/>
            <a:ext cx="269747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Financial self-service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52928"/>
            <a:ext cx="301752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View invoices, balances, receipts and payment history.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286000"/>
            <a:ext cx="347472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2286000"/>
            <a:ext cx="73152" cy="251460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5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432304"/>
            <a:ext cx="269747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Report an issue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852928"/>
            <a:ext cx="301752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Capture category, priority, description and unit context; receive a traceable reference.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2286000"/>
            <a:ext cx="347472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2286000"/>
            <a:ext cx="73152" cy="251460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00918A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3376" y="2432304"/>
            <a:ext cx="269747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Track 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2852928"/>
            <a:ext cx="301752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See open requests, updates, documents and closure evidence.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20640"/>
            <a:ext cx="10607040" cy="4572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22034"/>
                </a:solidFill>
                <a:latin typeface="Aptos"/>
              </a:rPr>
              <a:t>Live proof: submit a low-risk issue, note the reference, then continue the same record in Facility Management.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A tenant request becomes a property-scoped operational transaction—not an email or informal phone call.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FACILITIES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Turn a reported defect into controlled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Ticket → triage → SLA → assignment → evidence → verification → closure.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536192" cy="749808"/>
          </a:xfrm>
          <a:prstGeom prst="round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61488"/>
            <a:ext cx="144475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2770632"/>
            <a:ext cx="25603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514600"/>
            <a:ext cx="1536192" cy="749808"/>
          </a:xfrm>
          <a:prstGeom prst="round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2761488"/>
            <a:ext cx="144475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TRIAGE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8" y="2770632"/>
            <a:ext cx="25603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514600"/>
            <a:ext cx="1536192" cy="749808"/>
          </a:xfrm>
          <a:prstGeom prst="round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761488"/>
            <a:ext cx="144475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ASSIGN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2770632"/>
            <a:ext cx="25603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1536192" cy="749808"/>
          </a:xfrm>
          <a:prstGeom prst="round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2761488"/>
            <a:ext cx="144475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EXECUTE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36408" y="2770632"/>
            <a:ext cx="25603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59" y="2514600"/>
            <a:ext cx="1536192" cy="749808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2761488"/>
            <a:ext cx="144475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VERIFY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0928" y="2770632"/>
            <a:ext cx="25603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12680" y="2514600"/>
            <a:ext cx="1536192" cy="749808"/>
          </a:xfrm>
          <a:prstGeom prst="round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2761488"/>
            <a:ext cx="1444752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58768"/>
            <a:ext cx="10698480" cy="160020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Time-stamped severity and SLA target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Responsible staff member or approved service provider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Photos, notes, costs and verification evidence</a:t>
            </a:r>
          </a:p>
          <a:p>
            <a:pPr>
              <a:spcAft>
                <a:spcPts val="1100"/>
              </a:spcAft>
              <a:defRPr sz="1600">
                <a:solidFill>
                  <a:srgbClr val="122034"/>
                </a:solidFill>
                <a:latin typeface="Aptos"/>
              </a:defRPr>
            </a:pPr>
            <a:r>
              <a:t>•  Escalation and notifications when thresholds are at risk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Every maintenance action has ownership, evidence, elapsed time and a measurable outcome.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ASSET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Every critical asset has a passport and a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From onboarding to preventive maintenance, condition history and replacement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09</a:t>
            </a:r>
          </a:p>
        </p:txBody>
      </p:sp>
      <p:pic>
        <p:nvPicPr>
          <p:cNvPr id="10" name="Picture 9" descr="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176272"/>
            <a:ext cx="4983480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2313432"/>
            <a:ext cx="5440680" cy="292608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22034"/>
                </a:solidFill>
                <a:latin typeface="Aptos"/>
              </a:defRPr>
            </a:pPr>
            <a:r>
              <a:t>•  Specification, location, condition, criticality and warranty</a:t>
            </a:r>
          </a:p>
          <a:p>
            <a:pPr>
              <a:spcAft>
                <a:spcPts val="1100"/>
              </a:spcAft>
              <a:defRPr sz="1700">
                <a:solidFill>
                  <a:srgbClr val="122034"/>
                </a:solidFill>
                <a:latin typeface="Aptos"/>
              </a:defRPr>
            </a:pPr>
            <a:r>
              <a:t>•  Service history, documents and next planned maintenance</a:t>
            </a:r>
          </a:p>
          <a:p>
            <a:pPr>
              <a:spcAft>
                <a:spcPts val="1100"/>
              </a:spcAft>
              <a:defRPr sz="1700">
                <a:solidFill>
                  <a:srgbClr val="122034"/>
                </a:solidFill>
                <a:latin typeface="Aptos"/>
              </a:defRPr>
            </a:pPr>
            <a:r>
              <a:t>•  12-month PPM calendar with due, completed and overdue work</a:t>
            </a:r>
          </a:p>
          <a:p>
            <a:pPr>
              <a:spcAft>
                <a:spcPts val="1100"/>
              </a:spcAft>
              <a:defRPr sz="1700">
                <a:solidFill>
                  <a:srgbClr val="122034"/>
                </a:solidFill>
                <a:latin typeface="Aptos"/>
              </a:defRPr>
            </a:pPr>
            <a:r>
              <a:t>•  Inspections, compliance renewals and recurring-failure visibility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The asset register is operational: it drives schedules, work, compliance and lifecycle decisions.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SERVICE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Define WHAT before assigning WHO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Service Profiles remain stable while providers, contracts and performance can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66420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542032"/>
            <a:ext cx="1444752" cy="56692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2365B"/>
                </a:solidFill>
                <a:latin typeface="Aptos"/>
              </a:rPr>
              <a:t>SERVICE</a:t>
            </a:r>
            <a:br/>
            <a: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1444752" cy="329184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56982"/>
                </a:solidFill>
                <a:latin typeface="Aptos"/>
              </a:rPr>
              <a:t>What is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2944368"/>
            <a:ext cx="2286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2331720"/>
            <a:ext cx="166420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2888" y="2542032"/>
            <a:ext cx="1444752" cy="56692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DE232A"/>
                </a:solidFill>
                <a:latin typeface="Aptos"/>
              </a:rPr>
              <a:t>PROVIDER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3310128"/>
            <a:ext cx="1444752" cy="329184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56982"/>
                </a:solidFill>
                <a:latin typeface="Aptos"/>
              </a:rPr>
              <a:t>Who delivers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2" y="2944368"/>
            <a:ext cx="2286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331720"/>
            <a:ext cx="166420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2542032"/>
            <a:ext cx="1444752" cy="56692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00918A"/>
                </a:solidFill>
                <a:latin typeface="Aptos"/>
              </a:rPr>
              <a:t>PROPERTY</a:t>
            </a:r>
            <a:br/>
            <a:r>
              <a:t>ALLOCATION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3310128"/>
            <a:ext cx="1444752" cy="329184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56982"/>
                </a:solidFill>
                <a:latin typeface="Aptos"/>
              </a:rPr>
              <a:t>Where it applies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2944368"/>
            <a:ext cx="2286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331720"/>
            <a:ext cx="166420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542032"/>
            <a:ext cx="1444752" cy="56692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EA8614"/>
                </a:solidFill>
                <a:latin typeface="Aptos"/>
              </a:rPr>
              <a:t>CONTRACT /</a:t>
            </a:r>
            <a:br/>
            <a:r>
              <a:t>SLA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310128"/>
            <a:ext cx="1444752" cy="329184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56982"/>
                </a:solidFill>
                <a:latin typeface="Aptos"/>
              </a:rPr>
              <a:t>Expected standard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2944368"/>
            <a:ext cx="2286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2331720"/>
            <a:ext cx="166420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2542032"/>
            <a:ext cx="1444752" cy="56692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0A213D"/>
                </a:solidFill>
                <a:latin typeface="Aptos"/>
              </a:rPr>
              <a:t>WORK &amp;</a:t>
            </a:r>
            <a:br/>
            <a:r>
              <a:t>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3310128"/>
            <a:ext cx="1444752" cy="329184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56982"/>
                </a:solidFill>
                <a:latin typeface="Aptos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2944368"/>
            <a:ext cx="2286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556982"/>
                </a:solidFill>
                <a:latin typeface="Apto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2331720"/>
            <a:ext cx="166420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13848" y="2542032"/>
            <a:ext cx="1444752" cy="56692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6A34A"/>
                </a:solidFill>
                <a:latin typeface="Aptos"/>
              </a:rPr>
              <a:t>KPI /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3848" y="3310128"/>
            <a:ext cx="1444752" cy="329184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56982"/>
                </a:solidFill>
                <a:latin typeface="Aptos"/>
              </a:rPr>
              <a:t>Outcome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22034"/>
                </a:solidFill>
                <a:latin typeface="Aptos"/>
              </a:defRPr>
            </a:pPr>
            <a:r>
              <a:t>•  One profile can use different providers at different properties.</a:t>
            </a:r>
          </a:p>
          <a:p>
            <a:pPr>
              <a:spcAft>
                <a:spcPts val="1100"/>
              </a:spcAft>
              <a:defRPr sz="1500">
                <a:solidFill>
                  <a:srgbClr val="122034"/>
                </a:solidFill>
                <a:latin typeface="Aptos"/>
              </a:defRPr>
            </a:pPr>
            <a:r>
              <a:t>•  Changing a provider must never erase service requirements or historical performance.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Provider selection is separated from the enduring service standard used for SLA and KPI measurement.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Transactions become management 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Use trends and exceptions to answer: What happened? Why? What needs action next?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86000"/>
            <a:ext cx="26974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286000"/>
            <a:ext cx="73152" cy="25146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Aptos"/>
              </a:rPr>
              <a:t>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32304"/>
            <a:ext cx="1920240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PPM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52928"/>
            <a:ext cx="224028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Completed on time, overdue and upcoming preventive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2286000"/>
            <a:ext cx="26974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2152" y="2286000"/>
            <a:ext cx="73152" cy="251460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SLA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2432304"/>
            <a:ext cx="1920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SLA performance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0752" y="2852928"/>
            <a:ext cx="224028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Response and resolution time by priority, team and provider.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9944" y="2286000"/>
            <a:ext cx="26974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9944" y="2286000"/>
            <a:ext cx="73152" cy="2514600"/>
          </a:xfrm>
          <a:prstGeom prst="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EA8614"/>
                </a:solidFill>
                <a:latin typeface="Aptos"/>
              </a:rPr>
              <a:t>KES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304" y="2432304"/>
            <a:ext cx="192023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Financial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38544" y="2852928"/>
            <a:ext cx="224028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Expected vs actual collections, arrears ageing and budget variance.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17736" y="2286000"/>
            <a:ext cx="228600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17736" y="2286000"/>
            <a:ext cx="73152" cy="251460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18904" y="2450592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2365B"/>
                </a:solidFill>
                <a:latin typeface="Aptos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12096" y="2432304"/>
            <a:ext cx="150875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Risk &amp; 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2852928"/>
            <a:ext cx="1828800" cy="181965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Expiries, incidents, recurring defects and approvals.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84648"/>
            <a:ext cx="10789920" cy="38404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122034"/>
                </a:solidFill>
                <a:latin typeface="Aptos"/>
              </a:rPr>
              <a:t>Drill from every metric to the source record during the demo.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The system measures performance objectively using the same records created during daily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REPORTING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One data source, different audiences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Operational registers, tenant documents and landlord-ready management packs.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267712"/>
            <a:ext cx="342900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267712"/>
            <a:ext cx="73152" cy="2697480"/>
          </a:xfrm>
          <a:prstGeom prst="rect">
            <a:avLst/>
          </a:prstGeom>
          <a:solidFill>
            <a:srgbClr val="12365B"/>
          </a:solidFill>
          <a:ln w="12700">
            <a:solidFill>
              <a:srgbClr val="123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432304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2365B"/>
                </a:solidFill>
                <a:latin typeface="Aptos"/>
              </a:rPr>
              <a:t>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14016"/>
            <a:ext cx="2651760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Operational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34640"/>
            <a:ext cx="2971800" cy="20025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Work orders, PPM, compliance, incidents, utilities and provider performance.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267712"/>
            <a:ext cx="342900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87952" y="2267712"/>
            <a:ext cx="73152" cy="269748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432304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KES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414016"/>
            <a:ext cx="265175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Financial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834640"/>
            <a:ext cx="2971800" cy="20025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Billing and collection, receipts and expenditure, arrears, VAT and budget versus actual.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81544" y="2267712"/>
            <a:ext cx="342900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81544" y="2267712"/>
            <a:ext cx="73152" cy="2697480"/>
          </a:xfrm>
          <a:prstGeom prst="rect">
            <a:avLst/>
          </a:prstGeom>
          <a:solidFill>
            <a:srgbClr val="00918A"/>
          </a:solidFill>
          <a:ln w="12700">
            <a:solidFill>
              <a:srgbClr val="0091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82712" y="2432304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00918A"/>
                </a:solidFill>
                <a:latin typeface="Aptos"/>
              </a:rPr>
              <a:t>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2414016"/>
            <a:ext cx="2651759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Tenancy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0144" y="2834640"/>
            <a:ext cx="2971800" cy="20025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Occupancy, vacancy, lease expiry, movements and tenant statements.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10515600" cy="64008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spcAft>
                <a:spcPts val="1100"/>
              </a:spcAft>
              <a:defRPr sz="1300">
                <a:solidFill>
                  <a:srgbClr val="122034"/>
                </a:solidFill>
                <a:latin typeface="Aptos"/>
              </a:defRPr>
            </a:pPr>
            <a:r>
              <a:t>•  PDF for presentation and audit evidence</a:t>
            </a:r>
          </a:p>
          <a:p>
            <a:pPr>
              <a:spcAft>
                <a:spcPts val="1100"/>
              </a:spcAft>
              <a:defRPr sz="1300">
                <a:solidFill>
                  <a:srgbClr val="122034"/>
                </a:solidFill>
                <a:latin typeface="Aptos"/>
              </a:defRPr>
            </a:pPr>
            <a:r>
              <a:t>•  Excel/CSV for analysis and downstream processing</a:t>
            </a:r>
          </a:p>
          <a:p>
            <a:pPr>
              <a:spcAft>
                <a:spcPts val="1100"/>
              </a:spcAft>
              <a:defRPr sz="1300">
                <a:solidFill>
                  <a:srgbClr val="122034"/>
                </a:solidFill>
                <a:latin typeface="Aptos"/>
              </a:defRPr>
            </a:pPr>
            <a:r>
              <a:t>•  Property, reporting period, management identity and branding in every document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Management and landlord reports reuse live records instead of separate spreadsheets.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LIVE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Recommended 27-minute run of show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Keep the audience inside one property and one coherent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40280"/>
            <a:ext cx="10881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3317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Companion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3317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Today’s priorities and selected property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697480"/>
            <a:ext cx="10881360" cy="438912"/>
          </a:xfrm>
          <a:prstGeom prst="rect">
            <a:avLst/>
          </a:prstGeom>
          <a:solidFill>
            <a:srgbClr val="EAF1F7"/>
          </a:solidFill>
          <a:ln w="12700">
            <a:solidFill>
              <a:srgbClr val="EA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889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4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7889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Property &amp; tenancy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7889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Unit billing schedule and active lease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154680"/>
            <a:ext cx="10881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4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2461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Billing &amp; collections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2461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Invoice source, receipt and outstanding balance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611880"/>
            <a:ext cx="10881360" cy="438912"/>
          </a:xfrm>
          <a:prstGeom prst="rect">
            <a:avLst/>
          </a:prstGeom>
          <a:solidFill>
            <a:srgbClr val="EAF1F7"/>
          </a:solidFill>
          <a:ln w="12700">
            <a:solidFill>
              <a:srgbClr val="EA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7033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7033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Tenant portal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7033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Submit one maintenance issue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069080"/>
            <a:ext cx="10881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6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1605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Facility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41605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Triage, SLA, assignment, evidence and verification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526280"/>
            <a:ext cx="10881360" cy="438912"/>
          </a:xfrm>
          <a:prstGeom prst="rect">
            <a:avLst/>
          </a:prstGeom>
          <a:solidFill>
            <a:srgbClr val="EAF1F7"/>
          </a:solidFill>
          <a:ln w="12700">
            <a:solidFill>
              <a:srgbClr val="EA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177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3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6177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Asset &amp; PPM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46177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Asset passport, calendar and compliance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983480"/>
            <a:ext cx="108813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749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3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50749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Performance &amp; reports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50749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KPI drill-down and landlord 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440680"/>
            <a:ext cx="10881360" cy="438912"/>
          </a:xfrm>
          <a:prstGeom prst="rect">
            <a:avLst/>
          </a:prstGeom>
          <a:solidFill>
            <a:srgbClr val="EAF1F7"/>
          </a:solidFill>
          <a:ln w="12700">
            <a:solidFill>
              <a:srgbClr val="EA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532120"/>
            <a:ext cx="68580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DE232A"/>
                </a:solidFill>
                <a:latin typeface="Aptos"/>
              </a:rPr>
              <a:t>2 min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5532120"/>
            <a:ext cx="2011680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22034"/>
                </a:solidFill>
                <a:latin typeface="Aptos"/>
              </a:rPr>
              <a:t>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3320" y="5532120"/>
            <a:ext cx="7498079" cy="20116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Return to Companion and recap proof chain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Perform one meaningful action live; use prepared records for the broader lifecycle and reporting story.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PRESENTER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What to claim—and what to position as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Credibility matters more than covering every feature.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67712"/>
            <a:ext cx="345643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73152" cy="31546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432304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A34A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14016"/>
            <a:ext cx="2679191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Show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2999232" cy="24597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Property scoping, tenant/lease records, issue reporting, work orders, PPM, service profiles/providers, reports and Companion workflows.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267712"/>
            <a:ext cx="345643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2267712"/>
            <a:ext cx="73152" cy="3154680"/>
          </a:xfrm>
          <a:prstGeom prst="rect">
            <a:avLst/>
          </a:prstGeom>
          <a:solidFill>
            <a:srgbClr val="EA8614"/>
          </a:solidFill>
          <a:ln w="12700">
            <a:solidFill>
              <a:srgbClr val="EA8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5" y="2432304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EA8614"/>
                </a:solidFill>
                <a:latin typeface="Aptos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2414016"/>
            <a:ext cx="2679191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Describe carefully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834640"/>
            <a:ext cx="2999232" cy="24597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External email/SMS delivery, live payment gateways and scheduled automations only when the environment is configured and tested.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2267712"/>
            <a:ext cx="3456432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267712"/>
            <a:ext cx="73152" cy="3154680"/>
          </a:xfrm>
          <a:prstGeom prst="rect">
            <a:avLst/>
          </a:prstGeom>
          <a:solidFill>
            <a:srgbClr val="DE232A"/>
          </a:solidFill>
          <a:ln w="12700">
            <a:solidFill>
              <a:srgbClr val="DE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432304"/>
            <a:ext cx="36576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000" b="1">
                <a:solidFill>
                  <a:srgbClr val="DE232A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7656" y="2414016"/>
            <a:ext cx="2679191" cy="31089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500" b="1">
                <a:solidFill>
                  <a:srgbClr val="122034"/>
                </a:solidFill>
                <a:latin typeface="Aptos"/>
              </a:rPr>
              <a:t>Position as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834640"/>
            <a:ext cx="2999232" cy="2459736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556982"/>
                </a:solidFill>
                <a:latin typeface="Aptos"/>
              </a:rPr>
              <a:t>Specific smart-meter devices, third-party accounting systems and provider-specific APIs require vendor credentials and interface work.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Never claim a feature is live unless it works in the environment being demonstrated.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DEMO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Final pre-flight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Run this on the same device, browser and network that will be used in the meeting.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94560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2304288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295144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Login and session persistence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94560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2304288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2295144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Correct organization and selected property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52928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2962656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2953512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Property, tenant, asset and provider records populated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52928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4224" y="2962656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2953512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Open, due and overdue work represented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3621024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3611879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Tenant issue submission and generated reference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511296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621024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3611879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Work-order detail and SLA fields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169664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4279392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4270248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PPM and compliance calendar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9664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4279392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270248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Companion tasks and notifications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828031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4937759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1288" y="4928616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PDF report opens and is legible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828031"/>
            <a:ext cx="52303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4937759"/>
            <a:ext cx="27432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700" b="1">
                <a:solidFill>
                  <a:srgbClr val="DE232A"/>
                </a:solidFill>
                <a:latin typeface="Aptos"/>
              </a:rPr>
              <a:t>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3408" y="4928616"/>
            <a:ext cx="452628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22034"/>
                </a:solidFill>
                <a:latin typeface="Aptos"/>
              </a:rPr>
              <a:t>Backup screenshots/video available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Stop and switch to the backup path if latency, authentication or integrations are unstable.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enter-estat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347472"/>
            <a:ext cx="450232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365760"/>
            <a:ext cx="2011680" cy="25603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0A213D"/>
                </a:solidFill>
                <a:latin typeface="Aptos"/>
              </a:rPr>
              <a:t>CeEst ERP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30936"/>
            <a:ext cx="347472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800" b="1">
                <a:solidFill>
                  <a:srgbClr val="556982"/>
                </a:solidFill>
                <a:latin typeface="Aptos"/>
              </a:rPr>
              <a:t>PROPERTY  •  FACILITY  •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3200400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000" b="1">
                <a:solidFill>
                  <a:srgbClr val="DE232A"/>
                </a:solidFill>
                <a:latin typeface="Aptos"/>
              </a:rPr>
              <a:t>CLOSE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1155680" cy="47548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2700" b="1">
                <a:solidFill>
                  <a:srgbClr val="122034"/>
                </a:solidFill>
                <a:latin typeface="Aptos"/>
              </a:rPr>
              <a:t>CeEst is an operating control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10972800" cy="347472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556982"/>
                </a:solidFill>
                <a:latin typeface="Aptos"/>
              </a:rPr>
              <a:t>A single live record connects tenants, staff, providers, assets, money and management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411480"/>
            <a:ext cx="384048" cy="27432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r"/>
            <a:r>
              <a:rPr sz="1000" b="1">
                <a:solidFill>
                  <a:srgbClr val="DE232A"/>
                </a:solidFill>
                <a:latin typeface="Apto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10927080" cy="960120"/>
          </a:xfrm>
          <a:prstGeom prst="roundRect">
            <a:avLst/>
          </a:prstGeom>
          <a:solidFill>
            <a:srgbClr val="0A213D"/>
          </a:solidFill>
          <a:ln w="12700">
            <a:solidFill>
              <a:srgbClr val="0A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633472"/>
            <a:ext cx="10515600" cy="3200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RECORD  →  PLAN  →  ASSIGN  →  EXECUTE  →  VERIFY  →  MEASURE  →  REPORT  →  IMPROVE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886200"/>
            <a:ext cx="10058400" cy="77724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2400" b="1">
                <a:solidFill>
                  <a:srgbClr val="122034"/>
                </a:solidFill>
                <a:latin typeface="Aptos"/>
              </a:rPr>
              <a:t>The facility is onboarded. Work is planned. Issues are controlled. Performance is measured. Reports are ready.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5166360"/>
            <a:ext cx="3840480" cy="384048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ctr"/>
            <a:r>
              <a:rPr sz="1700" b="1">
                <a:solidFill>
                  <a:srgbClr val="DE232A"/>
                </a:solidFill>
                <a:latin typeface="Aptos"/>
              </a:rPr>
              <a:t>Questions &amp; live scenarios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99632"/>
            <a:ext cx="11183112" cy="384048"/>
          </a:xfrm>
          <a:prstGeom prst="roundRect">
            <a:avLst/>
          </a:prstGeom>
          <a:solidFill>
            <a:srgbClr val="E5EFFA"/>
          </a:solidFill>
          <a:ln w="12700">
            <a:solidFill>
              <a:srgbClr val="E5EF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6281928"/>
            <a:ext cx="640080" cy="18288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900" b="1">
                <a:solidFill>
                  <a:srgbClr val="0A213D"/>
                </a:solidFill>
                <a:latin typeface="Aptos"/>
              </a:rPr>
              <a:t>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6254496"/>
            <a:ext cx="10058400" cy="228600"/>
          </a:xfrm>
          <a:prstGeom prst="rect">
            <a:avLst/>
          </a:prstGeom>
          <a:noFill/>
        </p:spPr>
        <p:txBody>
          <a:bodyPr wrap="none" lIns="36576" rIns="36576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0A213D"/>
                </a:solidFill>
                <a:latin typeface="Aptos"/>
              </a:rPr>
              <a:t>One operating record. Complete estate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